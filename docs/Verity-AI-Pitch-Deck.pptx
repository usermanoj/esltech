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777240"/>
            <a:ext cx="1371600" cy="1371600"/>
          </a:xfrm>
          <a:prstGeom prst="ellipse">
            <a:avLst/>
          </a:prstGeom>
          <a:solidFill>
            <a:srgbClr val="161D3F"/>
          </a:solidFill>
          <a:ln/>
        </p:spPr>
      </p:sp>
      <p:pic>
        <p:nvPicPr>
          <p:cNvPr id="3" name="Image 0" descr="./icons/shield-indi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955548"/>
            <a:ext cx="1014984" cy="10149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33172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200" kern="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VERITY AI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337560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truth: </a:t>
            </a:r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teacher's material</a:t>
            </a:r>
            <a:pPr algn="ctr" indent="0" marL="0">
              <a:buNone/>
            </a:pPr>
            <a:r>
              <a:rPr lang="en-US" sz="2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 </a:t>
            </a:r>
            <a:pPr algn="ctr" indent="0" marL="0">
              <a:buNone/>
            </a:pPr>
            <a:r>
              <a:rPr lang="en-US" sz="22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student's language</a:t>
            </a:r>
            <a:pPr algn="ctr" indent="0" marL="0">
              <a:buNone/>
            </a:pPr>
            <a:r>
              <a:rPr lang="en-US" sz="220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371600" y="39776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closed-corpus AI learning platform for ESL students at IB &amp; Cambridge international schools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0" y="6172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Hackathon 2026</a:t>
            </a:r>
            <a:pPr algn="ctr"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algn="ctr"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esltech.vercel.app</a:t>
            </a:r>
            <a:pPr algn="ctr"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algn="ctr"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github.com/usermanoj/verity-ai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in a second language is a double burden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777240" cy="777240"/>
          </a:xfrm>
          <a:prstGeom prst="ellipse">
            <a:avLst/>
          </a:prstGeom>
          <a:solidFill>
            <a:srgbClr val="161D3F"/>
          </a:solidFill>
          <a:ln/>
        </p:spPr>
      </p:sp>
      <p:pic>
        <p:nvPicPr>
          <p:cNvPr id="5" name="Image 0" descr="./icons/userx-cy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121" y="2021281"/>
            <a:ext cx="575158" cy="57515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9019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91640" y="226771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AI either does the homework for them or answers in unpredictable English pulled from the open internet — sometimes contradicting exactly what the syllabus teaches.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777240" cy="777240"/>
          </a:xfrm>
          <a:prstGeom prst="ellipse">
            <a:avLst/>
          </a:prstGeom>
          <a:solidFill>
            <a:srgbClr val="161D3F"/>
          </a:solidFill>
          <a:ln/>
        </p:spPr>
      </p:sp>
      <p:pic>
        <p:nvPicPr>
          <p:cNvPr id="9" name="Image 1" descr="./icons/eyeoff-cy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21" y="3530041"/>
            <a:ext cx="575158" cy="5751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91640" y="34107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691640" y="377647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 today is a binary: ban it and lose the benefit, or allow it and lose all visibility into whether students are actually learning or just copy-pasting.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937760"/>
            <a:ext cx="777240" cy="777240"/>
          </a:xfrm>
          <a:prstGeom prst="ellipse">
            <a:avLst/>
          </a:prstGeom>
          <a:solidFill>
            <a:srgbClr val="161D3F"/>
          </a:solidFill>
          <a:ln/>
        </p:spPr>
      </p:sp>
      <p:pic>
        <p:nvPicPr>
          <p:cNvPr id="13" name="Image 2" descr="./icons/alert-cy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121" y="5038801"/>
            <a:ext cx="575158" cy="57515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91640" y="49194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leadership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691640" y="528523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data-driven way to see department- or school-wide patterns in ESL support effectiveness — resourcing decisions get made on instinct, not evidence.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AI, three guarantees no generic chatbot can make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794760"/>
          </a:xfrm>
          <a:prstGeom prst="roundRect">
            <a:avLst>
              <a:gd name="adj" fmla="val 3117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31720"/>
            <a:ext cx="868680" cy="86868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6" name="Image 0" descr="./icons/lock-indi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328" y="2444648"/>
            <a:ext cx="642823" cy="64282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33832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Closed-corpus, cited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393192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comes only from the teacher's approved material — never the open internet — with an exact source citation, every time.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89120" y="1965960"/>
            <a:ext cx="3520440" cy="3794760"/>
          </a:xfrm>
          <a:prstGeom prst="roundRect">
            <a:avLst>
              <a:gd name="adj" fmla="val 3117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2331720"/>
            <a:ext cx="868680" cy="86868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11" name="Image 1" descr="./icons/globe-cy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808" y="2444648"/>
            <a:ext cx="642823" cy="64282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33832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by design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709160" y="393192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and translates into a student's own language — Chinese (Mandarin, Simplified) live today, Korean, Malay, and Tamil next.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229600" y="1965960"/>
            <a:ext cx="3520440" cy="3794760"/>
          </a:xfrm>
          <a:prstGeom prst="roundRect">
            <a:avLst>
              <a:gd name="adj" fmla="val 3117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95360" y="2331720"/>
            <a:ext cx="868680" cy="86868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16" name="Image 2" descr="./icons/check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8288" y="2444648"/>
            <a:ext cx="642823" cy="64282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49640" y="33832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Guides, never cheats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549640" y="393192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Hints and asks guiding questions instead of handing over answers — academic integrity built into the architecture, not a policy afterthought.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AI, five ways to learn — no prompting required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084832" cy="2331720"/>
          </a:xfrm>
          <a:prstGeom prst="roundRect">
            <a:avLst>
              <a:gd name="adj" fmla="val 5263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48156" y="1965960"/>
            <a:ext cx="685800" cy="68580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6" name="Image 0" descr="./icons/zap-cy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7310" y="2055114"/>
            <a:ext cx="507492" cy="5074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28346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8368" y="32918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Teaches the concept step by step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798064" y="1691640"/>
            <a:ext cx="2084832" cy="2331720"/>
          </a:xfrm>
          <a:prstGeom prst="roundRect">
            <a:avLst>
              <a:gd name="adj" fmla="val 5263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97580" y="1965960"/>
            <a:ext cx="685800" cy="68580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11" name="Image 1" descr="./icons/grid-cy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6734" y="2055114"/>
            <a:ext cx="507492" cy="5074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07792" y="28346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Example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907792" y="32918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one worked example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047488" y="1691640"/>
            <a:ext cx="2084832" cy="2331720"/>
          </a:xfrm>
          <a:prstGeom prst="roundRect">
            <a:avLst>
              <a:gd name="adj" fmla="val 5263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747004" y="1965960"/>
            <a:ext cx="685800" cy="68580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16" name="Image 2" descr="./icons/help-cy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6158" y="2055114"/>
            <a:ext cx="507492" cy="5074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57216" y="28346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Questions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157216" y="32918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Socratic — one question at a time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7296912" y="1691640"/>
            <a:ext cx="2084832" cy="2331720"/>
          </a:xfrm>
          <a:prstGeom prst="roundRect">
            <a:avLst>
              <a:gd name="adj" fmla="val 5263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996428" y="1965960"/>
            <a:ext cx="685800" cy="68580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21" name="Image 3" descr="./icons/checksquare-cy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5582" y="2055114"/>
            <a:ext cx="507492" cy="50749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28346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My Answer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406640" y="32918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Hints, never the final answer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9546336" y="1691640"/>
            <a:ext cx="2084832" cy="2331720"/>
          </a:xfrm>
          <a:prstGeom prst="roundRect">
            <a:avLst>
              <a:gd name="adj" fmla="val 5263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10245852" y="1965960"/>
            <a:ext cx="685800" cy="68580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26" name="Image 4" descr="./icons/globe-cya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5006" y="2055114"/>
            <a:ext cx="507492" cy="50749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656064" y="28346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9656064" y="329184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the student's own language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48640" y="4297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conversational memory: the AI threads full history so it genuinely remembers what it already explained — no repetition, real back-and-forth.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5029200"/>
            <a:ext cx="640080" cy="640080"/>
          </a:xfrm>
          <a:prstGeom prst="ellipse">
            <a:avLst/>
          </a:prstGeom>
          <a:solidFill>
            <a:srgbClr val="161D3F"/>
          </a:solidFill>
          <a:ln/>
        </p:spPr>
      </p:sp>
      <p:pic>
        <p:nvPicPr>
          <p:cNvPr id="31" name="Image 5" descr="./icons/target-p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" y="5112410"/>
            <a:ext cx="473659" cy="473659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371600" y="50109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Drag-and-feel physics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1371600" y="53218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seesaw simulation makes moments of a force tangible — drag weights, watch clockwise/anticlockwise balance live.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6263640" y="5029200"/>
            <a:ext cx="640080" cy="640080"/>
          </a:xfrm>
          <a:prstGeom prst="ellipse">
            <a:avLst/>
          </a:prstGeom>
          <a:solidFill>
            <a:srgbClr val="161D3F"/>
          </a:solidFill>
          <a:ln/>
        </p:spPr>
      </p:sp>
      <p:pic>
        <p:nvPicPr>
          <p:cNvPr id="35" name="Image 6" descr="./icons/trending-pin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6850" y="5112410"/>
            <a:ext cx="473659" cy="473659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7086600" y="50109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distance-time graphs</a:t>
            </a:r>
            <a:endParaRPr lang="en-US" sz="1400" dirty="0"/>
          </a:p>
        </p:txBody>
      </p:sp>
      <p:sp>
        <p:nvSpPr>
          <p:cNvPr id="37" name="Text 28"/>
          <p:cNvSpPr/>
          <p:nvPr/>
        </p:nvSpPr>
        <p:spPr>
          <a:xfrm>
            <a:off x="7086600" y="53218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scrubbable journey graph syncs a moving figure to its own distance-time plot in real time.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INNOVATION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by architecture, not by add-on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685800" cy="68580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6" name="Image 0" descr="./icons/database-indi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114" y="2055114"/>
            <a:ext cx="507492" cy="5074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9476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Vectorless, long-context RAG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bounded class corpus, the full approved material is injected directly into context — no embedding drift, maximum accuracy at classroom scale.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965960"/>
            <a:ext cx="685800" cy="68580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11" name="Image 1" descr="./icons/cpu-cy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114" y="2055114"/>
            <a:ext cx="507492" cy="5074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19476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+ probabilistic hybrid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37960" y="26974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and multiple-choice are graded by rule-based code, unit-tested. The LLM is reserved only for explanation, questions, and translation.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4251960"/>
            <a:ext cx="685800" cy="68580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16" name="Image 2" descr="./icons/repeat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" y="4341114"/>
            <a:ext cx="507492" cy="5074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2336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conversational memory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22960" y="49834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history threads on every turn so the AI genuinely remembers what it already said — no repetition, real Socratic back-and-forth.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63640" y="397764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37960" y="4251960"/>
            <a:ext cx="685800" cy="68580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21" name="Image 3" descr="./icons/globe-indi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7114" y="4341114"/>
            <a:ext cx="507492" cy="50749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2336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Corpus-grounded translation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6537960" y="49834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translation ties to the exact approved-material chunk it came from — provably the same lesson, not a generic bilingual guess.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IT'S FOR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roles, one closed-corpus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40180" y="2286000"/>
            <a:ext cx="822960" cy="82296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6" name="Image 0" descr="./icons/user-cy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7165" y="2392985"/>
            <a:ext cx="608990" cy="6089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3375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77240" y="384048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with an AI learning assistant, in their own language.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410712" y="192024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02252" y="2286000"/>
            <a:ext cx="822960" cy="82296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11" name="Image 1" descr="./icons/users-cy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9237" y="2392985"/>
            <a:ext cx="608990" cy="6089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93592" y="33375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3639312" y="384048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transparency into every AI conversation and class-wide progress.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272784" y="192024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164324" y="2286000"/>
            <a:ext cx="822960" cy="82296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16" name="Image 2" descr="./icons/barchart-cy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1309" y="2392985"/>
            <a:ext cx="608990" cy="60899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55664" y="33375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501384" y="384048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Department-level rollups across sections and teachers.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9134856" y="192024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026396" y="2286000"/>
            <a:ext cx="822960" cy="82296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21" name="Image 3" descr="./icons/home-cy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3381" y="2392985"/>
            <a:ext cx="608990" cy="60899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17736" y="333756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9363456" y="384048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completion, engagement, and ESL-improvement dashboards.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&amp; PROGRESS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today. Expanding fast.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011680" y="2212848"/>
            <a:ext cx="8138160" cy="0"/>
          </a:xfrm>
          <a:prstGeom prst="line">
            <a:avLst/>
          </a:prstGeom>
          <a:noFill/>
          <a:ln w="12700">
            <a:solidFill>
              <a:srgbClr val="9AA6C4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883664" y="1828800"/>
            <a:ext cx="256032" cy="25603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31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670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(Mandarin, Simplified)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NOW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64024" y="1828800"/>
            <a:ext cx="256032" cy="256032"/>
          </a:xfrm>
          <a:prstGeom prst="ellipse">
            <a:avLst/>
          </a:prstGeom>
          <a:solidFill>
            <a:srgbClr val="9AA6C4"/>
          </a:solidFill>
          <a:ln/>
        </p:spPr>
      </p:sp>
      <p:sp>
        <p:nvSpPr>
          <p:cNvPr id="10" name="Text 8"/>
          <p:cNvSpPr/>
          <p:nvPr/>
        </p:nvSpPr>
        <p:spPr>
          <a:xfrm>
            <a:off x="3703320" y="2331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03320" y="3017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44384" y="1828800"/>
            <a:ext cx="256032" cy="256032"/>
          </a:xfrm>
          <a:prstGeom prst="ellipse">
            <a:avLst/>
          </a:prstGeom>
          <a:solidFill>
            <a:srgbClr val="9AA6C4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331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83680" y="3017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524744" y="1828800"/>
            <a:ext cx="256032" cy="256032"/>
          </a:xfrm>
          <a:prstGeom prst="ellipse">
            <a:avLst/>
          </a:prstGeom>
          <a:solidFill>
            <a:srgbClr val="9AA6C4"/>
          </a:solidFill>
          <a:ln/>
        </p:spPr>
      </p:sp>
      <p:sp>
        <p:nvSpPr>
          <p:cNvPr id="16" name="Text 14"/>
          <p:cNvSpPr/>
          <p:nvPr/>
        </p:nvSpPr>
        <p:spPr>
          <a:xfrm>
            <a:off x="9464040" y="2331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464040" y="3017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1A2350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42062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85800" y="50749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topics live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10712" y="397764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1A2350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410712" y="42062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3547872" y="50749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tests passing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72784" y="397764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1A2350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72784" y="42062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6409944" y="50749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dashboards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34856" y="3977640"/>
            <a:ext cx="2606040" cy="1737360"/>
          </a:xfrm>
          <a:prstGeom prst="roundRect">
            <a:avLst>
              <a:gd name="adj" fmla="val 6316"/>
            </a:avLst>
          </a:prstGeom>
          <a:solidFill>
            <a:srgbClr val="1A2350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34856" y="42062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200" dirty="0"/>
          </a:p>
        </p:txBody>
      </p:sp>
      <p:sp>
        <p:nvSpPr>
          <p:cNvPr id="29" name="Text 27"/>
          <p:cNvSpPr/>
          <p:nvPr/>
        </p:nvSpPr>
        <p:spPr>
          <a:xfrm>
            <a:off x="9272016" y="50749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cited to source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teacher material upload with auto-question generation · Supabase auth &amp; persistence · additional subjects · native iPad app.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built into the architecture itself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943600" cy="4114800"/>
          </a:xfrm>
          <a:prstGeom prst="roundRect">
            <a:avLst>
              <a:gd name="adj" fmla="val 2667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20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streams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423160"/>
            <a:ext cx="594360" cy="59436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7" name="Image 0" descr="./icons/dollar-cy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947" y="2500427"/>
            <a:ext cx="439826" cy="43982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240487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Per-student site license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00200" y="271576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annual license sold to schools, $15–40 per student/year — tiered Student / Teacher / School-wide.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8680" y="3474720"/>
            <a:ext cx="594360" cy="59436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11" name="Image 1" descr="./icons/trending-cy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947" y="3551987"/>
            <a:ext cx="439826" cy="43982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0200" y="345643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packs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600200" y="376732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language packs (Korean, Malay, Tamil+) and subject packs beyond Physics, sold as premium add-ons.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68680" y="4526280"/>
            <a:ext cx="594360" cy="59436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15" name="Image 2" descr="./icons/briefcase-cy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947" y="4603547"/>
            <a:ext cx="439826" cy="43982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450799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revenue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1600200" y="481888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PD workshops on AI-assisted ESL instruction; anonymized benchmarking insights for school networks.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720840" y="1691640"/>
            <a:ext cx="4937760" cy="4114800"/>
          </a:xfrm>
          <a:prstGeom prst="roundRect">
            <a:avLst>
              <a:gd name="adj" fmla="val 2667"/>
            </a:avLst>
          </a:prstGeom>
          <a:solidFill>
            <a:srgbClr val="1A2350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040880" y="2011680"/>
            <a:ext cx="685800" cy="685800"/>
          </a:xfrm>
          <a:prstGeom prst="ellipse">
            <a:avLst/>
          </a:prstGeom>
          <a:solidFill>
            <a:srgbClr val="161D3F"/>
          </a:solidFill>
          <a:ln/>
        </p:spPr>
      </p:sp>
      <p:pic>
        <p:nvPicPr>
          <p:cNvPr id="20" name="Image 3" descr="./icons/layers-p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0034" y="2100834"/>
            <a:ext cx="507492" cy="50749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863840" y="2148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economics work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7040880" y="292608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hybrid AI architecture that makes answers trustworthy also controls cost — deterministic grading skips the LLM entirely wherever a number or multiple-choice answer can be rule-checked, and cheaper models plus prompt caching absorb high-volume routine tasks.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040880" y="434340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$300–900</a:t>
            </a:r>
            <a:endParaRPr lang="en-US" sz="3400" dirty="0"/>
          </a:p>
        </p:txBody>
      </p:sp>
      <p:sp>
        <p:nvSpPr>
          <p:cNvPr id="24" name="Text 18"/>
          <p:cNvSpPr/>
          <p:nvPr/>
        </p:nvSpPr>
        <p:spPr>
          <a:xfrm>
            <a:off x="7040880" y="50292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monthly cost, ~200-student pilot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 founder who has spent 20 years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systems trustworthy at scale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1672" cy="3566160"/>
          </a:xfrm>
          <a:prstGeom prst="roundRect">
            <a:avLst>
              <a:gd name="adj" fmla="val 3077"/>
            </a:avLst>
          </a:prstGeom>
          <a:solidFill>
            <a:srgbClr val="161D3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468880"/>
            <a:ext cx="1051560" cy="1051560"/>
          </a:xfrm>
          <a:prstGeom prst="ellipse">
            <a:avLst/>
          </a:prstGeom>
          <a:solidFill>
            <a:srgbClr val="1A2350"/>
          </a:solidFill>
          <a:ln/>
        </p:spPr>
      </p:sp>
      <p:pic>
        <p:nvPicPr>
          <p:cNvPr id="6" name="Image 0" descr="./icons/briefcase-indi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103" y="2605583"/>
            <a:ext cx="778154" cy="7781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2514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Manoj Bhardwaj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194560" y="2926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Builder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79476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years in enterprise banking technology at global financial institutions — building systems that must be correct, auditable, and trusted at scale.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founder of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Dhari AI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(dhari.ai), building production-grade reasoning agents for regulated institutions with banking-grade rigor. Verity AI applies that same discipline to ESL education: AI that is accountable and verifiable by design.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914400"/>
            <a:ext cx="1371600" cy="1371600"/>
          </a:xfrm>
          <a:prstGeom prst="ellipse">
            <a:avLst/>
          </a:prstGeom>
          <a:solidFill>
            <a:srgbClr val="161D3F"/>
          </a:solidFill>
          <a:ln/>
        </p:spPr>
      </p:sp>
      <p:pic>
        <p:nvPicPr>
          <p:cNvPr id="3" name="Image 0" descr="./icons/award-p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092708"/>
            <a:ext cx="1014984" cy="10149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606040"/>
            <a:ext cx="10360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truth. Every language.</a:t>
            </a:r>
            <a:endParaRPr lang="en-US" sz="3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included.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371600" y="4114800"/>
            <a:ext cx="9445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Verity AI — built end-to-end during the Claude Code Hackathon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0" y="51206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 </a:t>
            </a:r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esltech.vercel.app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5321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 </a:t>
            </a:r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github.com/usermanoj/verity-ai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0" y="62179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Verity AI — Hackathon Pitch Deck</dc:title>
  <dc:subject>PptxGenJS Presentation</dc:subject>
  <dc:creator>Verity AI</dc:creator>
  <cp:lastModifiedBy>Verity AI</cp:lastModifiedBy>
  <cp:revision>1</cp:revision>
  <dcterms:created xsi:type="dcterms:W3CDTF">2026-07-12T09:56:21Z</dcterms:created>
  <dcterms:modified xsi:type="dcterms:W3CDTF">2026-07-12T09:56:21Z</dcterms:modified>
</cp:coreProperties>
</file>